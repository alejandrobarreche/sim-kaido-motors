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Minuto 0:00–0:30. Mensaje: recibir unos 17.400 coches en A013, con más stock donde hay margen. Se explican la demanda real, los escenarios, el plan y qué vigilar.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0:30–1:45. El 8,5 % de crecimiento de matriculaciones incluye automatriculaciones, el lanzamiento de CSUV y compras adelantadas de noviembre–diciembre (estimación entre 0 y 1.200 coches). La demanda subyacente se estima en −3,2 % (−0,2 % a −6,2 %), igual que el mercado en enero–julio.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1:45–3:00. La previsión es mercado por cuota: modelo de la variación interanual con calendario, sucesos y confianza del consumidor retrasada tres meses. Validación con A012: error mensual del 12–13 % en el total, igual que la referencia estacional, y peor en B y S. La demanda de CSUV pasa de 1.192 a unos 2.770 coches porque A012 solo recoge cinco meses de venta.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3:00–4:15. Los escenarios combinan todos los sucesos a la vez y no tienen probabilidades. La confianza usa los percentiles 10 y 90 del cambio a nueve meses en A001–A012; el efecto de una renovación de gama es la mediana de 21 renovaciones (+11 %); turismo: una desviación típica de viajeros_var. Combustible, tipo de cambio y arancel no se cuantifican por falta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4:15–5:30. Tabla 5 del enunciado, total de los siete segmentos, mediana y P10–P90 dentro de cada escenario. La prima de CO2, si la matriz la carga entera, es el suceso que más pesa. En el optimista se pierden unas 1.800 ventas: el plan central no puede responder a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5:30–6:45. Llegadas por mes y segmento, con demanda prevista y stock mediano del escenario central. Enero y febrero ya están en camino (2.110 coches al mes, por encima de la demanda), por eso C y CSUV no piden hasta septiembre y junio. El nivel de servicio z es 0 en B, 0,84 en C, 1,65 en MD y S, 2,33 en SSUV y CSUV y 3,0 en MSUV, elegido con el resultado del escenario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6:45–8:15. Un coche de más cuesta unos 60 € al mes; uno de menos cuesta su CVP. En el optimista faltarían coches por 4,7 M€ de CVP (1,7 con transfers); pasarse en el pesimista cuesta solo 0,2 M€ más que en el central. Empujar MSUV, S, CSUV y MD; vigilar SSUV; frenar B y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8:15–10:00. Cuatro señales y una regla. Revisar la llegada de t+3 si las ventas de los últimos tres meses salen del rango 0,88–1,24 veces la previsión. Limitaciones: llegadas de enero y febrero supuestas, sin automatriculaciones ni transfers, arancel y combustible no cuantificados; los rangos son una cota baja si los errores están más correlacionados.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828800"/>
            <a:ext cx="137160" cy="219456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332720" cy="1463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F1F1F"/>
                </a:solidFill>
                <a:latin typeface="Arial"/>
              </a:rPr>
              <a:t>Kaido Motors España: plan de producción de A013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103327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0072B2"/>
                </a:solidFill>
                <a:latin typeface="Arial"/>
              </a:rPr>
              <a:t>Recibir 17.400 coches y concentrar el stock en los SUV de mayor margen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760720"/>
            <a:ext cx="10332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Arial"/>
              </a:rPr>
              <a:t>Simulación de Sistemas Logísticos · Universidad Alfonso X el Sabio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82296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En A012 la demanda de clientes cayó; no creció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2651760" cy="2103120"/>
          </a:xfrm>
          <a:prstGeom prst="rect">
            <a:avLst/>
          </a:prstGeom>
          <a:solidFill>
            <a:srgbClr val="DC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265176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1F1F1F"/>
                </a:solidFill>
                <a:latin typeface="Arial"/>
              </a:rPr>
              <a:t>+8,5 %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26517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F1F1F"/>
                </a:solidFill>
                <a:latin typeface="Arial"/>
              </a:rPr>
              <a:t>Matriculaciones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737360"/>
            <a:ext cx="2651760" cy="2103120"/>
          </a:xfrm>
          <a:prstGeom prst="rect">
            <a:avLst/>
          </a:prstGeom>
          <a:solidFill>
            <a:srgbClr val="DC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874519"/>
            <a:ext cx="265176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1F1F1F"/>
                </a:solidFill>
                <a:latin typeface="Arial"/>
              </a:rPr>
              <a:t>+6,0 %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926080"/>
            <a:ext cx="26517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F1F1F"/>
                </a:solidFill>
                <a:latin typeface="Arial"/>
              </a:rPr>
              <a:t>Sin automatriculaciones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37360"/>
            <a:ext cx="2651760" cy="2103120"/>
          </a:xfrm>
          <a:prstGeom prst="rect">
            <a:avLst/>
          </a:prstGeom>
          <a:solidFill>
            <a:srgbClr val="DC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265176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1F1F1F"/>
                </a:solidFill>
                <a:latin typeface="Arial"/>
              </a:rPr>
              <a:t>−0,1 %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926080"/>
            <a:ext cx="26517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F1F1F"/>
                </a:solidFill>
                <a:latin typeface="Arial"/>
              </a:rPr>
              <a:t>Sin el lanzamiento de CSUV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737360"/>
            <a:ext cx="2651760" cy="21031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874519"/>
            <a:ext cx="265176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−3,2 %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926080"/>
            <a:ext cx="26517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Sin compras adelantadas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06240"/>
            <a:ext cx="107899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F1F1F"/>
                </a:solidFill>
                <a:latin typeface="Arial"/>
              </a:rPr>
              <a:t>Variación de la demanda de A012 respecto a A011. Según el adelanto estimado, la subyacente va de −6,2 % a −0,2 %.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1F1F"/>
                </a:solidFill>
                <a:latin typeface="Arial"/>
              </a:rPr>
              <a:t>Las automatriculaciones pasaron del 8,5 % al 10,7 % de las matriculaciones.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1F1F"/>
                </a:solidFill>
                <a:latin typeface="Arial"/>
              </a:rPr>
              <a:t>A013 no repite el adelanto de noviembre–diciembre y empieza con la caída posterior.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82296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Demanda prevista de A013: unos 18.500 coches (−10,8 %)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3</a:t>
            </a:r>
          </a:p>
        </p:txBody>
      </p:sp>
      <p:pic>
        <p:nvPicPr>
          <p:cNvPr id="5" name="Picture 4" descr="demanda_prevision_a013_segm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7863840" cy="38623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645920"/>
            <a:ext cx="347472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F1F1F"/>
                </a:solidFill>
                <a:latin typeface="Arial"/>
              </a:rPr>
              <a:t>−19,5 % sin CSUV.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F1F1F"/>
                </a:solidFill>
                <a:latin typeface="Arial"/>
              </a:rPr>
              <a:t>Sin adelanto, con caída posterior y con la confianza 19 puntos más baja.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F1F1F"/>
                </a:solidFill>
                <a:latin typeface="Arial"/>
              </a:rPr>
              <a:t>Error mensual del 13 % en el total; B, S y MD son poco fiables.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9320"/>
            <a:ext cx="7863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Arial"/>
              </a:rPr>
              <a:t>Banda: rango de error de validación (P10–P90). Fuente: prevision_demanda_a013.csv.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82296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Tres escenarios traducen la tabla 4 a parámetros del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78992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74720"/>
                <a:gridCol w="2926080"/>
                <a:gridCol w="164592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1F1F"/>
                          </a:solidFill>
                          <a:latin typeface="Arial"/>
                        </a:rPr>
                        <a:t>Parámetro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1F1F1F"/>
                          </a:solidFill>
                          <a:latin typeface="Arial"/>
                        </a:rPr>
                        <a:t>Pesimista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1F1F1F"/>
                          </a:solidFill>
                          <a:latin typeface="Arial"/>
                        </a:rPr>
                        <a:t>Central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1F1F1F"/>
                          </a:solidFill>
                          <a:latin typeface="Arial"/>
                        </a:rPr>
                        <a:t>Optimista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Confianza desde enero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61,4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77,7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96,8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Caída tras el adelanto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6 meses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3 meses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1 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Plan de ayuda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abril–dic.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Prima de CO2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47 M€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Cuota de códigos nuevos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MSUV −11 % (3 meses)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+11 % en 4 segmentos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Alquiladores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−24 %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+24 %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Suministro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MSUV sin llegadas en junio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440680"/>
            <a:ext cx="107899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F1F1F"/>
                </a:solidFill>
                <a:latin typeface="Arial"/>
              </a:rPr>
              <a:t>1.000 repeticiones por escenario, mismo plan de partida y mismos errores de demanda.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82296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Con el plan recomendado: de 15,7 mil a 22,4 mil ventas y de 7,1 a 83,0 M€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38039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83280"/>
                <a:gridCol w="2651760"/>
                <a:gridCol w="2651760"/>
                <a:gridCol w="237744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1F1F"/>
                          </a:solidFill>
                          <a:latin typeface="Arial"/>
                        </a:rPr>
                        <a:t>Mediana (P10–P90)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F1F1F"/>
                          </a:solidFill>
                          <a:latin typeface="Arial"/>
                        </a:rPr>
                        <a:t>Pesimista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F1F1F"/>
                          </a:solidFill>
                          <a:latin typeface="Arial"/>
                        </a:rPr>
                        <a:t>Central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F1F1F"/>
                          </a:solidFill>
                          <a:latin typeface="Arial"/>
                        </a:rPr>
                        <a:t>Optimista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Coches vendidos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15.693 (14.632–16.906)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17.910 (16.647–19.298)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22.396 (21.027–23.860)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Coches fabricados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14.708 (13.632–15.903)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16.880 (15.469–18.309)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20.879 (19.378–22.423)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Stock medio (meses de venta)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2,2 (1,8–2,5)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1,8 (1,5–2,1)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1,1 (0,9–1,3)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Coste del stock (M€)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2,0 (1,8–2,1)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1,9 (1,8–2,1)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1,5 (1,4–1,7)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Ventas perdidas (coches)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381 (111–864)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458 (173–908)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1.814 (1.015–2.909)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Prima de CO2 (M€)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47,2 (43,8–50,9)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0,0 (0,0–0,0)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0,0 (0,0–0,0)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Resultado (M€)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7,1 (5,7–8,6)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63,5 (58,1–69,4)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F1F1F"/>
                          </a:solidFill>
                          <a:latin typeface="Arial"/>
                        </a:rPr>
                        <a:t>83,0 (76,3–89,6)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F1F1F"/>
                </a:solidFill>
                <a:latin typeface="Arial"/>
              </a:rPr>
              <a:t>La prima de CO2 (47 M€) hunde el pesimista: sin ella, dejaría unos 54 M€.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82296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Plan recomendado: 17.400 coches, con las llegadas en los SUV de margen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6</a:t>
            </a:r>
          </a:p>
        </p:txBody>
      </p:sp>
      <p:pic>
        <p:nvPicPr>
          <p:cNvPr id="5" name="Picture 4" descr="plan_recomendado_segmento_a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7863840" cy="38583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645920"/>
            <a:ext cx="347472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F1F1F"/>
                </a:solidFill>
                <a:latin typeface="Arial"/>
              </a:rPr>
              <a:t>No pedir C hasta septiembre ni CSUV hasta junio.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F1F1F"/>
                </a:solidFill>
                <a:latin typeface="Arial"/>
              </a:rPr>
              <a:t>Marzo: SSUV 885, MSUV 384 y S 116.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F1F1F"/>
                </a:solidFill>
                <a:latin typeface="Arial"/>
              </a:rPr>
              <a:t>B sin stock de seguridad.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F1F1F"/>
                </a:solidFill>
                <a:latin typeface="Arial"/>
              </a:rPr>
              <a:t>Stock medio de 1,8 meses de venta.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82296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Quedarse corto cuesta mucho más que sobrar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603504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1645920"/>
                <a:gridCol w="164592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1F1F"/>
                          </a:solidFill>
                          <a:latin typeface="Arial"/>
                        </a:rPr>
                        <a:t>Segmento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1F1F1F"/>
                          </a:solidFill>
                          <a:latin typeface="Arial"/>
                        </a:rPr>
                        <a:t>CVP (€/coche)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1F1F1F"/>
                          </a:solidFill>
                          <a:latin typeface="Arial"/>
                        </a:rPr>
                        <a:t>Con prima CO2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1F1F1F"/>
                          </a:solidFill>
                          <a:latin typeface="Arial"/>
                        </a:rPr>
                        <a:t>z elegida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MSUV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5.887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1.684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3,00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4.954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1,65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MD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4.044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1.962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1,65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CSUV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3.804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1.892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2,33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SSUV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2.857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2,33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1.367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−585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0,84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−2.430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F1F1F"/>
                          </a:solidFill>
                          <a:latin typeface="Arial"/>
                        </a:rPr>
                        <a:t>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1554480"/>
            <a:ext cx="484632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F1F1F"/>
                </a:solidFill>
                <a:latin typeface="Arial"/>
              </a:rPr>
              <a:t>Un coche de más: 60 € al mes.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F1F1F"/>
                </a:solidFill>
                <a:latin typeface="Arial"/>
              </a:rPr>
              <a:t>Un coche de menos: su CVP, o 368–1.556 € con transfer.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F1F1F"/>
                </a:solidFill>
                <a:latin typeface="Arial"/>
              </a:rPr>
              <a:t>Optimista: 4,7 M€ perdidos (1,7 con transfers).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F1F1F"/>
                </a:solidFill>
                <a:latin typeface="Arial"/>
              </a:rPr>
              <a:t>Pesimista: pasarse cuesta solo 0,2 M€ más.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60350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72B2"/>
                </a:solidFill>
                <a:latin typeface="Arial"/>
              </a:rPr>
              <a:t>Empujar: MSUV, S, CSUV, MD. Vigilar: SSUV. Frenar: B y 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82296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Qué vigilar y cuándo cambiar la producción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88136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800"/>
              </a:spcAft>
            </a:pPr>
            <a:r>
              <a:rPr sz="2200" b="0">
                <a:solidFill>
                  <a:srgbClr val="1F1F1F"/>
                </a:solidFill>
                <a:latin typeface="Arial"/>
              </a:rPr>
              <a:t>Ventas de los tres últimos meses fuera de 0,88–1,24 veces la previsión: revisar la llegada de t + 3.</a:t>
            </a:r>
          </a:p>
          <a:p>
            <a:pPr>
              <a:spcAft>
                <a:spcPts val="1800"/>
              </a:spcAft>
            </a:pPr>
            <a:r>
              <a:rPr sz="2200" b="0">
                <a:solidFill>
                  <a:srgbClr val="1F1F1F"/>
                </a:solidFill>
                <a:latin typeface="Arial"/>
              </a:rPr>
              <a:t>Confianza del consumidor: si vuelve a la media de enero–julio de A012, la demanda sube un 12 %.</a:t>
            </a:r>
          </a:p>
          <a:p>
            <a:pPr>
              <a:spcAft>
                <a:spcPts val="1800"/>
              </a:spcAft>
            </a:pPr>
            <a:r>
              <a:rPr sz="2200" b="0">
                <a:solidFill>
                  <a:srgbClr val="1F1F1F"/>
                </a:solidFill>
                <a:latin typeface="Arial"/>
              </a:rPr>
              <a:t>Prima de CO2: decidir antes de marzo; cambia el resultado de 63,5 a 7,1 M€.</a:t>
            </a:r>
          </a:p>
          <a:p>
            <a:pPr>
              <a:spcAft>
                <a:spcPts val="1800"/>
              </a:spcAft>
            </a:pPr>
            <a:r>
              <a:rPr sz="2200" b="0">
                <a:solidFill>
                  <a:srgbClr val="1F1F1F"/>
                </a:solidFill>
                <a:latin typeface="Arial"/>
              </a:rPr>
              <a:t>Más de 2,5 meses de cobertura en un segmento de margen alto, o stock envejecido en C y CSUV: parar llegadas.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20640"/>
            <a:ext cx="1088136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55555"/>
                </a:solidFill>
                <a:latin typeface="Arial"/>
              </a:rPr>
              <a:t>Supuestos: llegadas de enero y febrero (2.110 al mes), sin automatriculaciones ni transfers; arancel y combustible sin cuantificar.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