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Pedido inicial A013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1245.0</c:v>
                </c:pt>
                <c:pt idx="1">
                  <c:v>1553.0</c:v>
                </c:pt>
                <c:pt idx="2">
                  <c:v>2091.0</c:v>
                </c:pt>
                <c:pt idx="3">
                  <c:v>1620.0</c:v>
                </c:pt>
                <c:pt idx="4">
                  <c:v>778.0</c:v>
                </c:pt>
                <c:pt idx="5">
                  <c:v>767.0</c:v>
                </c:pt>
                <c:pt idx="6">
                  <c:v>1077.0</c:v>
                </c:pt>
                <c:pt idx="7">
                  <c:v>1464.0</c:v>
                </c:pt>
                <c:pt idx="8">
                  <c:v>1754.0</c:v>
                </c:pt>
                <c:pt idx="9">
                  <c:v>969.0</c:v>
                </c:pt>
                <c:pt idx="10">
                  <c:v>1256.0</c:v>
                </c:pt>
                <c:pt idx="11">
                  <c:v>1570.0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Ventas (coches)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Pt>
            <c:idx val="0"/>
            <c:spPr>
              <a:solidFill>
                <a:srgbClr val="D55E00"/>
              </a:solidFill>
            </c:spPr>
          </c:dPt>
          <c:dPt>
            <c:idx val="1"/>
            <c:spPr>
              <a:solidFill>
                <a:srgbClr val="0072B2"/>
              </a:solidFill>
            </c:spPr>
          </c:dPt>
          <c:dPt>
            <c:idx val="2"/>
            <c:spPr>
              <a:solidFill>
                <a:srgbClr val="009E73"/>
              </a:solidFill>
            </c:spPr>
          </c:dPt>
          <c:cat>
            <c:strRef>
              <c:f>Sheet1!$A$2:$A$4</c:f>
              <c:strCache>
                <c:ptCount val="3"/>
                <c:pt idx="0">
                  <c:v>Pesimista</c:v>
                </c:pt>
                <c:pt idx="1">
                  <c:v>Central</c:v>
                </c:pt>
                <c:pt idx="2">
                  <c:v>Optimista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12132.0</c:v>
                </c:pt>
                <c:pt idx="1">
                  <c:v>18505.5</c:v>
                </c:pt>
                <c:pt idx="2">
                  <c:v>24907.5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 medio (M€)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Pt>
            <c:idx val="0"/>
            <c:spPr>
              <a:solidFill>
                <a:srgbClr val="D55E00"/>
              </a:solidFill>
            </c:spPr>
          </c:dPt>
          <c:dPt>
            <c:idx val="1"/>
            <c:spPr>
              <a:solidFill>
                <a:srgbClr val="0072B2"/>
              </a:solidFill>
            </c:spPr>
          </c:dPt>
          <c:dPt>
            <c:idx val="2"/>
            <c:spPr>
              <a:solidFill>
                <a:srgbClr val="009E73"/>
              </a:solidFill>
            </c:spPr>
          </c:dPt>
          <c:cat>
            <c:strRef>
              <c:f>Sheet1!$A$2:$A$4</c:f>
              <c:strCache>
                <c:ptCount val="3"/>
                <c:pt idx="0">
                  <c:v>Pesimista</c:v>
                </c:pt>
                <c:pt idx="1">
                  <c:v>Central</c:v>
                </c:pt>
                <c:pt idx="2">
                  <c:v>Optimista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3.094993058</c:v>
                </c:pt>
                <c:pt idx="1">
                  <c:v>62.88207069</c:v>
                </c:pt>
                <c:pt idx="2">
                  <c:v>91.374149836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Servicio medio (%)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cat>
            <c:strRef>
              <c:f>Sheet1!$A$2:$A$8</c:f>
              <c:strCache>
                <c:ptCount val="7"/>
                <c:pt idx="0">
                  <c:v>B</c:v>
                </c:pt>
                <c:pt idx="1">
                  <c:v>C</c:v>
                </c:pt>
                <c:pt idx="2">
                  <c:v>MD</c:v>
                </c:pt>
                <c:pt idx="3">
                  <c:v>SSUV</c:v>
                </c:pt>
                <c:pt idx="4">
                  <c:v>CSUV</c:v>
                </c:pt>
                <c:pt idx="5">
                  <c:v>MSUV</c:v>
                </c:pt>
                <c:pt idx="6">
                  <c:v>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96.4977478422018</c:v>
                </c:pt>
                <c:pt idx="1">
                  <c:v>99.61717223470103</c:v>
                </c:pt>
                <c:pt idx="2">
                  <c:v>99.65217004415481</c:v>
                </c:pt>
                <c:pt idx="3">
                  <c:v>95.3572637440957</c:v>
                </c:pt>
                <c:pt idx="4">
                  <c:v>98.34383516748004</c:v>
                </c:pt>
                <c:pt idx="5">
                  <c:v>99.22317087686004</c:v>
                </c:pt>
                <c:pt idx="6">
                  <c:v>95.96958850382548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Objetivo (%)</c:v>
                </c:pt>
              </c:strCache>
            </c:strRef>
          </c:tx>
          <c:spPr>
            <a:solidFill>
              <a:srgbClr val="888888"/>
            </a:solidFill>
            <a:ln>
              <a:solidFill>
                <a:srgbClr val="888888"/>
              </a:solidFill>
            </a:ln>
          </c:spPr>
          <c:cat>
            <c:strRef>
              <c:f>Sheet1!$A$2:$A$8</c:f>
              <c:strCache>
                <c:ptCount val="7"/>
                <c:pt idx="0">
                  <c:v>B</c:v>
                </c:pt>
                <c:pt idx="1">
                  <c:v>C</c:v>
                </c:pt>
                <c:pt idx="2">
                  <c:v>MD</c:v>
                </c:pt>
                <c:pt idx="3">
                  <c:v>SSUV</c:v>
                </c:pt>
                <c:pt idx="4">
                  <c:v>CSUV</c:v>
                </c:pt>
                <c:pt idx="5">
                  <c:v>MSUV</c:v>
                </c:pt>
                <c:pt idx="6">
                  <c:v>S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95.0</c:v>
                </c:pt>
                <c:pt idx="1">
                  <c:v>95.0</c:v>
                </c:pt>
                <c:pt idx="2">
                  <c:v>95.0</c:v>
                </c:pt>
                <c:pt idx="3">
                  <c:v>95.0</c:v>
                </c:pt>
                <c:pt idx="4">
                  <c:v>95.0</c:v>
                </c:pt>
                <c:pt idx="5">
                  <c:v>95.0</c:v>
                </c:pt>
                <c:pt idx="6">
                  <c:v>95.0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la recomendación condicionada al indicador de factibilidad. No se asignan probabilidades a los escenarios. Explicar que se trata de resultados simulados.</a:t>
            </a:r>
          </a:p>
          <a:p>
            <a:r>
              <a:t>Tiempo orientativo: 1 min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Diferenciar ventas observadas, gama comparable y ajuste parcial de episodios. La estimación ajustada no identifica toda la demanda potencial ni la demanda perdida por falta de stock.</a:t>
            </a:r>
          </a:p>
          <a:p>
            <a:r>
              <a:t>Tiempo orientativo: 1 min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Modelo seleccionado con A009–A011. A012 ya fue observado en el desarrollo inicial y no se presenta como prueba independiente. El MAE mensual relativo divide el error absoluto medio por las ventas mensuales medias del total comparable.</a:t>
            </a:r>
          </a:p>
          <a:p>
            <a:r>
              <a:t>Tiempo orientativo: 1 min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pedidos del plan inicial agrupados por mes de decisión. La serie de fabricación/pedido no es la serie de llegadas. Pedidos de cierre llegan en la prolongación de A014.</a:t>
            </a:r>
          </a:p>
          <a:p>
            <a:r>
              <a:t>Tiempo orientativo: 1 min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Comparar mediana de ventas y contribución media total en el mismo orden de la tabla 5. P10–P90 describe variabilidad interna, no probabilidades de los escenarios. Arancel, divisa y combustible contienen tamaños exploratorios explícitos.</a:t>
            </a:r>
          </a:p>
          <a:p>
            <a:r>
              <a:t>Tiempo orientativo: 1 min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diferencia se calcula cargando la prima a las mismas ventas centrales. No se atribuye a CO₂ toda la distancia central–pesimista ni se reoptimiza en este contraste.</a:t>
            </a:r>
          </a:p>
          <a:p>
            <a:r>
              <a:t>Tiempo orientativo: 1 min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servicio es la proporción de unidades atendidas, no la probabilidad de ausencia de roturas. Revisar cociente entre sumas de ventas y previsión de tres meses, evitando interpretar ventas censuradas por stock como menor demanda.</a:t>
            </a:r>
          </a:p>
          <a:p>
            <a:r>
              <a:t>Tiempo orientativo: 1 min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limitaciones documentadas. La continuidad hasta junio A014 es una sensibilidad, sin valoración ficticia del inventario. No se optimiza el gasto comercial porque falta una respuesta de demanda a ese gasto.</a:t>
            </a:r>
          </a:p>
          <a:p>
            <a:r>
              <a:t>Tiempo orientativo: 1 min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72B2"/>
                </a:solidFill>
                <a:latin typeface="Arial"/>
              </a:defRPr>
            </a:pPr>
            <a:r>
              <a:t>A013: margen con servicio y revisión mensual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333333"/>
                </a:solidFill>
                <a:latin typeface="Arial"/>
              </a:defRPr>
            </a:pPr>
            <a:r>
              <a:t>La mejor política evaluada alcanza al menos un 95 % de servicio medio por segmento en el escenario central; mantener revisión mensual y seguimiento de compromisos.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971800"/>
            <a:ext cx="3246120" cy="132588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62,9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Resultado medio central (M€)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2971800"/>
            <a:ext cx="3246120" cy="132588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97,6 %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Servicio medio central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2971800"/>
            <a:ext cx="3246120" cy="132588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14,8 %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MAE A012 sin CSUV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72B2"/>
                </a:solidFill>
                <a:latin typeface="Arial"/>
              </a:defRPr>
            </a:pPr>
            <a:r>
              <a:t>A012: crece el total, no la gama comparable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011680"/>
            <a:ext cx="3017520" cy="132588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6,0 %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Observado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2011680"/>
            <a:ext cx="3017520" cy="132588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-0,1 %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Comparable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2011680"/>
            <a:ext cx="3017520" cy="132588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2,5 %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Ajuste parcial de episodios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Crecimiento observado y comparable son referencias distintas; no equivalen por sí solos a la demanda futura.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72B2"/>
                </a:solidFill>
                <a:latin typeface="Arial"/>
              </a:defRPr>
            </a:pPr>
            <a:r>
              <a:t>A012: evaluación retrospectiva, sin CSUV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4389120" cy="132588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14,8 %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MAE mensual relativo, sin CSUV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333333"/>
                </a:solidFill>
                <a:latin typeface="Arial"/>
              </a:defRPr>
            </a:pPr>
            <a:r>
              <a:t>Selección con A009–A011; evaluación retrospectiva A012.</a:t>
            </a:r>
          </a:p>
          <a:p>
            <a:pPr>
              <a:spcAft>
                <a:spcPts val="1400"/>
              </a:spcAft>
              <a:defRPr sz="2100">
                <a:solidFill>
                  <a:srgbClr val="333333"/>
                </a:solidFill>
                <a:latin typeface="Arial"/>
              </a:defRPr>
            </a:pPr>
            <a:r>
              <a:t>CSUV utiliza una sensibilidad específica, no la precisión del total comparable.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72B2"/>
                </a:solidFill>
                <a:latin typeface="Arial"/>
              </a:defRPr>
            </a:pPr>
            <a:r>
              <a:t>Pedir hoy para recibir dentro de tres meses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77240" y="1234440"/>
          <a:ext cx="10515600" cy="2971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85800" y="4572000"/>
            <a:ext cx="5120640" cy="868680"/>
          </a:xfrm>
          <a:prstGeom prst="roundRect">
            <a:avLst/>
          </a:prstGeom>
          <a:solidFill>
            <a:srgbClr val="EAF3F8"/>
          </a:solidFill>
          <a:ln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333333"/>
                </a:solidFill>
                <a:latin typeface="Arial"/>
              </a:defRPr>
            </a:pPr>
            <a:r>
              <a:t>Decisión / pedido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779008" y="4828032"/>
            <a:ext cx="320040" cy="329184"/>
          </a:xfrm>
          <a:prstGeom prst="right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80760" y="4572000"/>
            <a:ext cx="5120640" cy="868680"/>
          </a:xfrm>
          <a:prstGeom prst="roundRect">
            <a:avLst/>
          </a:prstGeom>
          <a:solidFill>
            <a:srgbClr val="EAF3F8"/>
          </a:solidFill>
          <a:ln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333333"/>
                </a:solidFill>
                <a:latin typeface="Arial"/>
              </a:defRPr>
            </a:pPr>
            <a:r>
              <a:t>Llegada t+3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4864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Pedidos de cierre: llegada en prolongación A014.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72B2"/>
                </a:solidFill>
                <a:latin typeface="Arial"/>
              </a:defRPr>
            </a:pPr>
            <a:r>
              <a:t>Tres escenarios, un mismo plan inicial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4754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0" y="1371600"/>
          <a:ext cx="47548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72B2"/>
                </a:solidFill>
                <a:latin typeface="Arial"/>
              </a:defRPr>
            </a:pPr>
            <a:r>
              <a:t>CO₂: aislar el coste manteniendo los flujos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4114800" cy="137160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-55,01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Efecto CO₂ aislado (M€)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0" y="1828800"/>
            <a:ext cx="4114800" cy="1371600"/>
          </a:xfrm>
          <a:prstGeom prst="roundRect">
            <a:avLst/>
          </a:prstGeom>
          <a:solidFill>
            <a:srgbClr val="EAF3F8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>
                <a:solidFill>
                  <a:srgbClr val="0072B2"/>
                </a:solidFill>
                <a:latin typeface="Arial"/>
              </a:defRPr>
            </a:pPr>
            <a:r>
              <a:t>62,9</a:t>
            </a:r>
          </a:p>
          <a:p>
            <a:pPr algn="ctr">
              <a:defRPr sz="1500">
                <a:solidFill>
                  <a:srgbClr val="333333"/>
                </a:solidFill>
                <a:latin typeface="Arial"/>
              </a:defRPr>
            </a:pPr>
            <a:r>
              <a:t>Resultado medio central (M€)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333333"/>
                </a:solidFill>
                <a:latin typeface="Arial"/>
              </a:defRPr>
            </a:pPr>
            <a:r>
              <a:t>VM, CVP y costes logísticos deben leerse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72B2"/>
                </a:solidFill>
                <a:latin typeface="Arial"/>
              </a:defRPr>
            </a:pPr>
            <a:r>
              <a:t>Servicio por segmento y señales de revisión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32588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589520" y="182880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Objetivo: 95 % de unidades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Cumplimiento por segmento: sí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Revisar ventas/previsión; vigilar roturas, edad y costes.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72B2"/>
                </a:solidFill>
                <a:latin typeface="Arial"/>
              </a:defRPr>
            </a:pPr>
            <a:r>
              <a:t>Aplicar el plan y vigilar sus límites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0" cy="914400"/>
          </a:xfrm>
          <a:prstGeom prst="roundRect">
            <a:avLst/>
          </a:prstGeom>
          <a:solidFill>
            <a:srgbClr val="F0F3F5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333333"/>
                </a:solidFill>
                <a:latin typeface="Arial"/>
              </a:defRPr>
            </a:pPr>
            <a:r>
              <a:t>A012 es evaluación retrospectiva; ya influyó en el desarrollo inicial.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06040"/>
            <a:ext cx="10515600" cy="914400"/>
          </a:xfrm>
          <a:prstGeom prst="roundRect">
            <a:avLst/>
          </a:prstGeom>
          <a:solidFill>
            <a:srgbClr val="F0F3F5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333333"/>
                </a:solidFill>
                <a:latin typeface="Arial"/>
              </a:defRPr>
            </a:pPr>
            <a:r>
              <a:t>CSUV tiene poca historia: cuota, lanzamiento e incertidumbre requieren sensibilidad.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840480"/>
            <a:ext cx="10515600" cy="914400"/>
          </a:xfrm>
          <a:prstGeom prst="roundRect">
            <a:avLst/>
          </a:prstGeom>
          <a:solidFill>
            <a:srgbClr val="F0F3F5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333333"/>
                </a:solidFill>
                <a:latin typeface="Arial"/>
              </a:defRPr>
            </a:pPr>
            <a:r>
              <a:t>Pipeline, fechas de producto, combustible, arancel y divisa incluyen supuestos explícitos.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Revisión de escenarios A013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